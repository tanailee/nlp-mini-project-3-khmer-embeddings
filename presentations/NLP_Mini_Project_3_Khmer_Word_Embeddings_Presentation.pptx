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Khmer Word Embeddings and Neural Language Modeling using Temples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9A227"/>
                </a:solidFill>
              </a:defRPr>
            </a:pPr>
            <a:r>
              <a:t>NLP Mini Project 3 - Word Embeddings</a:t>
            </a:r>
          </a:p>
          <a:p>
            <a:pPr>
              <a:defRPr sz="2000">
                <a:solidFill>
                  <a:srgbClr val="C9A227"/>
                </a:solidFill>
              </a:defRPr>
            </a:pPr>
            <a:r>
              <a:t>Master of Data Science | Institute of Technology of Cambodia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B1F3A"/>
                </a:solidFill>
              </a:defRPr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26070"/>
                </a:solidFill>
              </a:defRPr>
            </a:pPr>
            <a:r>
              <a:t>Build Khmer word embeddings.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Visualize embeddings using PCA.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Build neural language models.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Compare n-gram, fixed embedding LM, and scratch LM.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B1F3A"/>
                </a:solidFill>
              </a:defRPr>
            </a:pPr>
            <a:r>
              <a:t>Mini Project 3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26070"/>
                </a:solidFill>
              </a:defRPr>
            </a:pPr>
            <a:r>
              <a:t>Embedding dimension = 50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Context window = +/-4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Negative sampling = 2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MIN_FREQ = 10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Neural LM: n=5, h=512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Scratch embedding comparison included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B1F3A"/>
                </a:solidFill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26070"/>
                </a:solidFill>
              </a:defRPr>
            </a:pPr>
            <a:r>
              <a:t>Dataset: temples.txt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Topic: Khmer temple Wikipedia text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Total useful tokens: 9,075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Vocabulary size: 175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Small domain-specific Khmer corpus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B1F3A"/>
                </a:solidFill>
              </a:defRPr>
            </a:pPr>
            <a:r>
              <a:t>NLP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26070"/>
                </a:solidFill>
              </a:defRPr>
            </a:pPr>
            <a:r>
              <a:t>Khmer Text -&gt; Cleaning -&gt; Tokenization -&gt; EDA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Skip-gram -&gt; PCA Visualization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Neural LM -&gt; Model Evaluation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B1F3A"/>
                </a:solidFill>
              </a:defRPr>
            </a:pPr>
            <a:r>
              <a:t>Text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26070"/>
                </a:solidFill>
              </a:defRPr>
            </a:pPr>
            <a:r>
              <a:t>Khmer tokenization is essential.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Punctuation, numbers, spaces, and noisy tokens removed.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MIN_FREQ = 10 applied.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Rare words mapped to &lt;UNK&gt;.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B1F3A"/>
                </a:solidFill>
              </a:defRPr>
            </a:pPr>
            <a:r>
              <a:t>EDA Result</a:t>
            </a:r>
          </a:p>
        </p:txBody>
      </p:sp>
      <p:pic>
        <p:nvPicPr>
          <p:cNvPr id="3" name="Picture 2" descr="top_frequent_w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60120"/>
            <a:ext cx="5394960" cy="4846320"/>
          </a:xfrm>
          <a:prstGeom prst="rect">
            <a:avLst/>
          </a:prstGeom>
        </p:spPr>
      </p:pic>
      <p:pic>
        <p:nvPicPr>
          <p:cNvPr id="4" name="Picture 3" descr="word_frequency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43000"/>
            <a:ext cx="52120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B1F3A"/>
                </a:solidFill>
              </a:defRPr>
            </a:pPr>
            <a:r>
              <a:t>Skip-gram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26070"/>
                </a:solidFill>
              </a:defRPr>
            </a:pPr>
            <a:r>
              <a:t>Center word and context words from window +/-4.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Negative sampling k=2.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Embedding dimension = 50.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Binary classification: real vs negative pairs.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B1F3A"/>
                </a:solidFill>
              </a:defRPr>
            </a:pPr>
            <a:r>
              <a:t>Word Embedding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051560"/>
          <a:ext cx="71323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</a:tblGrid>
              <a:tr h="4368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Query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Similar Word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Freq.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Cosine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26070"/>
                          </a:solidFill>
                        </a:defRPr>
                      </a:pPr>
                      <a:r>
                        <a:t>ប្រាសាទ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26070"/>
                          </a:solidFill>
                        </a:defRPr>
                      </a:pPr>
                      <a:r>
                        <a:t>សតវត្ស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2607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26070"/>
                          </a:solidFill>
                        </a:defRPr>
                      </a:pPr>
                      <a:r>
                        <a:t>0.5914</a:t>
                      </a:r>
                    </a:p>
                  </a:txBody>
                  <a:tcPr/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26070"/>
                          </a:solidFill>
                        </a:defRPr>
                      </a:pPr>
                      <a:r>
                        <a:t>ប្រាសាទ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26070"/>
                          </a:solidFill>
                        </a:defRPr>
                      </a:pPr>
                      <a:r>
                        <a:t>ប្រទេស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2607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26070"/>
                          </a:solidFill>
                        </a:defRPr>
                      </a:pPr>
                      <a:r>
                        <a:t>0.5365</a:t>
                      </a:r>
                    </a:p>
                  </a:txBody>
                  <a:tcPr/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26070"/>
                          </a:solidFill>
                        </a:defRPr>
                      </a:pPr>
                      <a:r>
                        <a:t>ប្រាសាទ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26070"/>
                          </a:solidFill>
                        </a:defRPr>
                      </a:pPr>
                      <a:r>
                        <a:t>តំណាង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2607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26070"/>
                          </a:solidFill>
                        </a:defRPr>
                      </a:pPr>
                      <a:r>
                        <a:t>0.5147</a:t>
                      </a:r>
                    </a:p>
                  </a:txBody>
                  <a:tcPr/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26070"/>
                          </a:solidFill>
                        </a:defRPr>
                      </a:pPr>
                      <a:r>
                        <a:t>ប្រាសាទ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26070"/>
                          </a:solidFill>
                        </a:defRPr>
                      </a:pPr>
                      <a:r>
                        <a:t>ផ្នែក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2607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26070"/>
                          </a:solidFill>
                        </a:defRPr>
                      </a:pPr>
                      <a:r>
                        <a:t>0.4326</a:t>
                      </a:r>
                    </a:p>
                  </a:txBody>
                  <a:tcPr/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26070"/>
                          </a:solidFill>
                        </a:defRPr>
                      </a:pPr>
                      <a:r>
                        <a:t>ប្រាសាទ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26070"/>
                          </a:solidFill>
                        </a:defRPr>
                      </a:pPr>
                      <a:r>
                        <a:t>ខាងត្បូង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2607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26070"/>
                          </a:solidFill>
                        </a:defRPr>
                      </a:pPr>
                      <a:r>
                        <a:t>0.4271</a:t>
                      </a:r>
                    </a:p>
                  </a:txBody>
                  <a:tcPr/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26070"/>
                          </a:solidFill>
                        </a:defRPr>
                      </a:pPr>
                      <a:r>
                        <a:t>ប្រាសាទ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26070"/>
                          </a:solidFill>
                        </a:defRPr>
                      </a:pPr>
                      <a:r>
                        <a:t>ខាងកើត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2607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26070"/>
                          </a:solidFill>
                        </a:defRPr>
                      </a:pPr>
                      <a:r>
                        <a:t>0.4234</a:t>
                      </a:r>
                    </a:p>
                  </a:txBody>
                  <a:tcPr/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26070"/>
                          </a:solidFill>
                        </a:defRPr>
                      </a:pPr>
                      <a:r>
                        <a:t>ប្រាសាទ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26070"/>
                          </a:solidFill>
                        </a:defRPr>
                      </a:pPr>
                      <a:r>
                        <a:t>អង្គរ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2607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26070"/>
                          </a:solidFill>
                        </a:defRPr>
                      </a:pPr>
                      <a:r>
                        <a:t>0.4173</a:t>
                      </a:r>
                    </a:p>
                  </a:txBody>
                  <a:tcPr/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26070"/>
                          </a:solidFill>
                        </a:defRPr>
                      </a:pPr>
                      <a:r>
                        <a:t>ប្រាសាទ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26070"/>
                          </a:solidFill>
                        </a:defRPr>
                      </a:pPr>
                      <a:r>
                        <a:t>ស្ថិត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2607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526070"/>
                          </a:solidFill>
                        </a:defRPr>
                      </a:pPr>
                      <a:r>
                        <a:t>0.4151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046720" y="1234440"/>
            <a:ext cx="3749039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26070"/>
                </a:solidFill>
              </a:defRPr>
            </a:pPr>
            <a:r>
              <a:t>Cosine similarity compares word vectors.</a:t>
            </a:r>
          </a:p>
          <a:p>
            <a:pPr>
              <a:defRPr sz="1600">
                <a:solidFill>
                  <a:srgbClr val="526070"/>
                </a:solidFill>
              </a:defRPr>
            </a:pPr>
            <a:r>
              <a:t>Nearest words show contextual association.</a:t>
            </a:r>
          </a:p>
          <a:p>
            <a:pPr>
              <a:defRPr sz="1600">
                <a:solidFill>
                  <a:srgbClr val="526070"/>
                </a:solidFill>
              </a:defRPr>
            </a:pPr>
            <a:r>
              <a:t>Display filtering hides &lt;UNK&gt; and common function words for clearer interpretation.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B1F3A"/>
                </a:solidFill>
              </a:defRPr>
            </a:pPr>
            <a:r>
              <a:t>PCA Visualization</a:t>
            </a:r>
          </a:p>
        </p:txBody>
      </p:sp>
      <p:pic>
        <p:nvPicPr>
          <p:cNvPr id="3" name="Picture 2" descr="pca_skipgram_embed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5394960" cy="4800600"/>
          </a:xfrm>
          <a:prstGeom prst="rect">
            <a:avLst/>
          </a:prstGeom>
        </p:spPr>
      </p:pic>
      <p:pic>
        <p:nvPicPr>
          <p:cNvPr id="4" name="Picture 3" descr="pca_scratch_lm_embedd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914400"/>
            <a:ext cx="539496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B1F3A"/>
                </a:solidFill>
              </a:defRPr>
            </a:pPr>
            <a:r>
              <a:t>Advanced Embedding Clustering</a:t>
            </a:r>
          </a:p>
        </p:txBody>
      </p:sp>
      <p:pic>
        <p:nvPicPr>
          <p:cNvPr id="3" name="Picture 2" descr="kmeans_silhouette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5212080" cy="4023360"/>
          </a:xfrm>
          <a:prstGeom prst="rect">
            <a:avLst/>
          </a:prstGeom>
        </p:spPr>
      </p:pic>
      <p:pic>
        <p:nvPicPr>
          <p:cNvPr id="4" name="Picture 3" descr="kmeans_pca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960120"/>
            <a:ext cx="5212080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25780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26070"/>
                </a:solidFill>
              </a:defRPr>
            </a:pPr>
            <a:r>
              <a:t>K-means groups words with similar embedding patterns.</a:t>
            </a:r>
          </a:p>
          <a:p>
            <a:pPr>
              <a:defRPr sz="1500">
                <a:solidFill>
                  <a:srgbClr val="526070"/>
                </a:solidFill>
              </a:defRPr>
            </a:pPr>
            <a:r>
              <a:t>Silhouette score helps choose K.</a:t>
            </a:r>
          </a:p>
          <a:p>
            <a:pPr>
              <a:defRPr sz="1500">
                <a:solidFill>
                  <a:srgbClr val="526070"/>
                </a:solidFill>
              </a:defRPr>
            </a:pPr>
            <a:r>
              <a:t>PCA is used only for 2D visualization.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B1F3A"/>
                </a:solidFill>
              </a:defRPr>
            </a:pPr>
            <a:r>
              <a:t>Hierarchical Clustering</a:t>
            </a:r>
          </a:p>
        </p:txBody>
      </p:sp>
      <p:pic>
        <p:nvPicPr>
          <p:cNvPr id="3" name="Picture 2" descr="hierarchical_dendrogram_numb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6583680" cy="50292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0" y="1051560"/>
          <a:ext cx="434340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/>
                <a:gridCol w="1447800"/>
                <a:gridCol w="1447800"/>
              </a:tblGrid>
              <a:tr h="344978"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FFFFFF"/>
                          </a:solidFill>
                        </a:defRPr>
                      </a:pPr>
                      <a:r>
                        <a:t>Khmer Word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FFFFFF"/>
                          </a:solidFill>
                        </a:defRPr>
                      </a:pPr>
                      <a:r>
                        <a:t>Freq.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34497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26070"/>
                          </a:solidFill>
                        </a:defRPr>
                      </a:pPr>
                      <a:r>
                        <a:t>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26070"/>
                          </a:solidFill>
                        </a:defRPr>
                      </a:pPr>
                      <a:r>
                        <a:t>និង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26070"/>
                          </a:solidFill>
                        </a:defRPr>
                      </a:pPr>
                      <a:r>
                        <a:t>223.0</a:t>
                      </a:r>
                    </a:p>
                  </a:txBody>
                  <a:tcPr/>
                </a:tc>
              </a:tr>
              <a:tr h="34497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26070"/>
                          </a:solidFill>
                        </a:defRPr>
                      </a:pPr>
                      <a:r>
                        <a:t>W02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26070"/>
                          </a:solidFill>
                        </a:defRPr>
                      </a:pPr>
                      <a:r>
                        <a:t>ប្រាសាទ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26070"/>
                          </a:solidFill>
                        </a:defRPr>
                      </a:pPr>
                      <a:r>
                        <a:t>199.0</a:t>
                      </a:r>
                    </a:p>
                  </a:txBody>
                  <a:tcPr/>
                </a:tc>
              </a:tr>
              <a:tr h="34497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26070"/>
                          </a:solidFill>
                        </a:defRPr>
                      </a:pPr>
                      <a:r>
                        <a:t>W03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26070"/>
                          </a:solidFill>
                        </a:defRPr>
                      </a:pPr>
                      <a:r>
                        <a:t>ដែល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26070"/>
                          </a:solidFill>
                        </a:defRPr>
                      </a:pPr>
                      <a:r>
                        <a:t>198.0</a:t>
                      </a:r>
                    </a:p>
                  </a:txBody>
                  <a:tcPr/>
                </a:tc>
              </a:tr>
              <a:tr h="34497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26070"/>
                          </a:solidFill>
                        </a:defRPr>
                      </a:pPr>
                      <a:r>
                        <a:t>W04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26070"/>
                          </a:solidFill>
                        </a:defRPr>
                      </a:pPr>
                      <a:r>
                        <a:t>មាន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26070"/>
                          </a:solidFill>
                        </a:defRPr>
                      </a:pPr>
                      <a:r>
                        <a:t>169.0</a:t>
                      </a:r>
                    </a:p>
                  </a:txBody>
                  <a:tcPr/>
                </a:tc>
              </a:tr>
              <a:tr h="34497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26070"/>
                          </a:solidFill>
                        </a:defRPr>
                      </a:pPr>
                      <a:r>
                        <a:t>W05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26070"/>
                          </a:solidFill>
                        </a:defRPr>
                      </a:pPr>
                      <a:r>
                        <a:t>បាន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26070"/>
                          </a:solidFill>
                        </a:defRPr>
                      </a:pPr>
                      <a:r>
                        <a:t>157.0</a:t>
                      </a:r>
                    </a:p>
                  </a:txBody>
                  <a:tcPr/>
                </a:tc>
              </a:tr>
              <a:tr h="34497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26070"/>
                          </a:solidFill>
                        </a:defRPr>
                      </a:pPr>
                      <a:r>
                        <a:t>W06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26070"/>
                          </a:solidFill>
                        </a:defRPr>
                      </a:pPr>
                      <a:r>
                        <a:t>នៅ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26070"/>
                          </a:solidFill>
                        </a:defRPr>
                      </a:pPr>
                      <a:r>
                        <a:t>157.0</a:t>
                      </a:r>
                    </a:p>
                  </a:txBody>
                  <a:tcPr/>
                </a:tc>
              </a:tr>
              <a:tr h="34497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26070"/>
                          </a:solidFill>
                        </a:defRPr>
                      </a:pPr>
                      <a:r>
                        <a:t>W07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26070"/>
                          </a:solidFill>
                        </a:defRPr>
                      </a:pPr>
                      <a:r>
                        <a:t>នៃ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26070"/>
                          </a:solidFill>
                        </a:defRPr>
                      </a:pPr>
                      <a:r>
                        <a:t>153.0</a:t>
                      </a:r>
                    </a:p>
                  </a:txBody>
                  <a:tcPr/>
                </a:tc>
              </a:tr>
              <a:tr h="34497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26070"/>
                          </a:solidFill>
                        </a:defRPr>
                      </a:pPr>
                      <a:r>
                        <a:t>W08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26070"/>
                          </a:solidFill>
                        </a:defRPr>
                      </a:pPr>
                      <a:r>
                        <a:t>នេះ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26070"/>
                          </a:solidFill>
                        </a:defRPr>
                      </a:pPr>
                      <a:r>
                        <a:t>134.0</a:t>
                      </a:r>
                    </a:p>
                  </a:txBody>
                  <a:tcPr/>
                </a:tc>
              </a:tr>
              <a:tr h="34497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26070"/>
                          </a:solidFill>
                        </a:defRPr>
                      </a:pPr>
                      <a:r>
                        <a:t>W09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26070"/>
                          </a:solidFill>
                        </a:defRPr>
                      </a:pPr>
                      <a:r>
                        <a:t>ជា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26070"/>
                          </a:solidFill>
                        </a:defRPr>
                      </a:pPr>
                      <a:r>
                        <a:t>122.0</a:t>
                      </a:r>
                    </a:p>
                  </a:txBody>
                  <a:tcPr/>
                </a:tc>
              </a:tr>
              <a:tr h="3449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26070"/>
                          </a:solidFill>
                        </a:defRPr>
                      </a:pPr>
                      <a:r>
                        <a:t>W10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26070"/>
                          </a:solidFill>
                        </a:defRPr>
                      </a:pPr>
                      <a:r>
                        <a:t>ថា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26070"/>
                          </a:solidFill>
                        </a:defRPr>
                      </a:pPr>
                      <a:r>
                        <a:t>92.0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06640" y="5074920"/>
            <a:ext cx="4023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26070"/>
                </a:solidFill>
              </a:defRPr>
            </a:pPr>
            <a:r>
              <a:t>Numbered labels improve slide readability.</a:t>
            </a:r>
          </a:p>
          <a:p>
            <a:pPr>
              <a:defRPr sz="1400">
                <a:solidFill>
                  <a:srgbClr val="526070"/>
                </a:solidFill>
              </a:defRPr>
            </a:pPr>
            <a:r>
              <a:t>Full mapping is included in the report.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B1F3A"/>
                </a:solidFill>
              </a:defRPr>
            </a:pPr>
            <a:r>
              <a:t>Neural Language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26070"/>
                </a:solidFill>
              </a:defRPr>
            </a:pPr>
            <a:r>
              <a:t>Previous 5 words -&gt; embeddings.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Concatenate embeddings.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Hidden layer size = 512.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Softmax predicts the next word.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B1F3A"/>
                </a:solidFill>
              </a:defRPr>
            </a:pPr>
            <a:r>
              <a:t>Model Comparison</a:t>
            </a:r>
          </a:p>
        </p:txBody>
      </p:sp>
      <p:pic>
        <p:nvPicPr>
          <p:cNvPr id="3" name="Picture 2" descr="model_perplexit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05840"/>
            <a:ext cx="5669280" cy="438912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234440"/>
          <a:ext cx="47548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</a:tblGrid>
              <a:tr h="4800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Test Perplexity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26070"/>
                          </a:solidFill>
                        </a:defRPr>
                      </a:pPr>
                      <a:r>
                        <a:t>N-gram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26070"/>
                          </a:solidFill>
                        </a:defRPr>
                      </a:pPr>
                      <a:r>
                        <a:t>158.84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26070"/>
                          </a:solidFill>
                        </a:defRPr>
                      </a:pPr>
                      <a:r>
                        <a:t>Neural LM fixed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26070"/>
                          </a:solidFill>
                        </a:defRPr>
                      </a:pPr>
                      <a:r>
                        <a:t>115.10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26070"/>
                          </a:solidFill>
                        </a:defRPr>
                      </a:pPr>
                      <a:r>
                        <a:t>Neural LM scratch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26070"/>
                          </a:solidFill>
                        </a:defRPr>
                      </a:pPr>
                      <a:r>
                        <a:t>229.07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29400" y="356616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26070"/>
                </a:solidFill>
              </a:defRPr>
            </a:pPr>
            <a:r>
              <a:t>Best model: Neural LM fixed skip-gram embeddings.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Perplexity around 115.10.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Lower perplexity is better.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B1F3A"/>
                </a:solidFill>
              </a:defRPr>
            </a:pPr>
            <a:r>
              <a:t>Discussion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26070"/>
                </a:solidFill>
              </a:defRPr>
            </a:pPr>
            <a:r>
              <a:t>Fixed skip-gram embeddings helped prediction.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Scratch LM can overfit on small data.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Khmer tokenization remains challenging.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PCA is approximate and loses information.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B1F3A"/>
                </a:solidFill>
              </a:defRPr>
            </a:pPr>
            <a:r>
              <a:t>Streamlit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26070"/>
                </a:solidFill>
              </a:defRPr>
            </a:pPr>
            <a:r>
              <a:t>Khmer Temple NLP Explorer app.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Default temples.txt and upload .txt for EDA.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Embedding explorer, PCA map, and model comparison.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Ready for GitHub and Streamlit Cloud.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B1F3A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26070"/>
                </a:solidFill>
              </a:defRPr>
            </a:pPr>
            <a:r>
              <a:t>Project satisfies Mini Project 3 requirements.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Khmer skip-gram embeddings were learned.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PCA and neural LM were implemented.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Fixed embedding LM achieved best perplexity.</a:t>
            </a:r>
          </a:p>
          <a:p>
            <a:pPr>
              <a:defRPr sz="2000">
                <a:solidFill>
                  <a:srgbClr val="526070"/>
                </a:solidFill>
              </a:defRPr>
            </a:pPr>
            <a:r>
              <a:t>Future work: larger corpus and stronger tokenizer.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